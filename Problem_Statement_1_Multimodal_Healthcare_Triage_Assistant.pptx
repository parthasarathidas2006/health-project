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c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cy="0"/>
          <a:chExt cx="0" cy="0"/>
        </a:xfrm>
      </p:grpSpPr>
    </p:spTree>
  </p:cSld>
  <p:clrMap accent1="087E78" accent2="E8A844" accent3="BD5149" accent4="173A46" accent5="D8E78B" accent6="52676D" bg1="FFFFFF" bg2="F5F7F3" tx1="102A32" tx2="52676D" hlink="087E78" folHlink="BD5149"/>
  <p:sldLayoutIdLst>
    <p:sldLayoutId id="1" r:id="rId1"/>
  </p:sldLayoutIdLst>
  <p:txStyles>
    <p:titleStyle>
      <a:lvl1pPr>
        <a:defRPr sz="3000"/>
      </a:lvl1pPr>
    </p:titleStyle>
    <p:bodyStyle>
      <a:lvl1pPr>
        <a:defRPr sz="1800"/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background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A46"/>
          </a:solidFill>
          <a:ln w="12700">
            <a:solidFill>
              <a:srgbClr val="173A46"/>
            </a:solidFill>
          </a:ln>
        </p:spPr>
      </p:sp>
      <p:sp>
        <p:nvSpPr>
          <p:cNvPr id="3" name="Cover accent"/>
          <p:cNvSpPr txBox="0"/>
          <p:nvPr/>
        </p:nvSpPr>
        <p:spPr>
          <a:xfrm>
            <a:off x="8668512" y="0"/>
            <a:ext cx="3529584" cy="6858000"/>
          </a:xfrm>
          <a:prstGeom prst="rect">
            <a:avLst/>
          </a:prstGeom>
          <a:solidFill>
            <a:srgbClr val="087E78"/>
          </a:solidFill>
          <a:ln w="12700">
            <a:solidFill>
              <a:srgbClr val="087E78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49808" y="658368"/>
            <a:ext cx="7406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D8E78B"/>
                </a:solidFill>
                <a:latin typeface="Aptos"/>
              </a:rPr>
              <a:t xml:space="preserve">PROBLEM STATEMENT 01  /  PUBLIC HEALTH</a:t>
            </a:r>
            <a:endParaRPr lang="en-US" sz="1100"/>
          </a:p>
        </p:txBody>
      </p:sp>
      <p:sp>
        <p:nvSpPr>
          <p:cNvPr id="5" name="Title"/>
          <p:cNvSpPr txBox="1"/>
          <p:nvPr/>
        </p:nvSpPr>
        <p:spPr>
          <a:xfrm>
            <a:off x="749808" y="1325880"/>
            <a:ext cx="7406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latin typeface="Aptos"/>
              </a:rPr>
              <a:t xml:space="preserve">Multimodal Healthcare</a:t>
            </a:r>
            <a:endParaRPr lang="en-US" sz="3400"/>
          </a:p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latin typeface="Aptos"/>
              </a:rPr>
              <a:t xml:space="preserve">Triage Assistant</a:t>
            </a:r>
            <a:endParaRPr lang="en-US" sz="3400"/>
          </a:p>
        </p:txBody>
      </p:sp>
      <p:sp>
        <p:nvSpPr>
          <p:cNvPr id="6" name="Subtitle"/>
          <p:cNvSpPr txBox="1"/>
          <p:nvPr/>
        </p:nvSpPr>
        <p:spPr>
          <a:xfrm>
            <a:off x="786384" y="3246120"/>
            <a:ext cx="70591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DBE8E5"/>
                </a:solidFill>
                <a:latin typeface="Aptos"/>
              </a:rPr>
              <a:t xml:space="preserve">SwasthyaMitra organizes patient-reported information and sample reports into a structured note for qualified review.</a:t>
            </a:r>
            <a:endParaRPr lang="en-US" sz="1800"/>
          </a:p>
        </p:txBody>
      </p:sp>
      <p:sp>
        <p:nvSpPr>
          <p:cNvPr id="7" name="Boundary banner"/>
          <p:cNvSpPr txBox="1"/>
          <p:nvPr/>
        </p:nvSpPr>
        <p:spPr>
          <a:xfrm>
            <a:off x="749808" y="4791456"/>
            <a:ext cx="7269480" cy="859536"/>
          </a:xfrm>
          <a:prstGeom prst="roundRect">
            <a:avLst/>
          </a:prstGeom>
          <a:solidFill>
            <a:srgbClr val="234C55"/>
          </a:solidFill>
          <a:ln w="12700">
            <a:solidFill>
              <a:srgbClr val="3B6C70"/>
            </a:solidFill>
          </a:ln>
        </p:spPr>
        <p:txBody>
          <a:bodyPr wrap="square" anchor="ctr" lIns="164592" rIns="164592" tIns="164592" bIns="164592">
            <a:norm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Aptos"/>
              </a:rPr>
              <a:t xml:space="preserve">NON-DIAGNOSTIC  •  HUMAN REVIEW REQUIRED</a:t>
            </a:r>
            <a:endParaRPr lang="en-US" sz="1300"/>
          </a:p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Aptos"/>
              </a:rPr>
              <a:t xml:space="preserve">Educational prototype only. No treatment advice or prescriptions.</a:t>
            </a:r>
            <a:endParaRPr lang="en-US" sz="1300"/>
          </a:p>
        </p:txBody>
      </p:sp>
      <p:sp>
        <p:nvSpPr>
          <p:cNvPr id="8" name="Voice node"/>
          <p:cNvSpPr txBox="1"/>
          <p:nvPr/>
        </p:nvSpPr>
        <p:spPr>
          <a:xfrm>
            <a:off x="9235440" y="109728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73A46"/>
                </a:solidFill>
                <a:latin typeface="Aptos"/>
              </a:rPr>
              <a:t xml:space="preserve">VOICE + TEXT</a:t>
            </a:r>
            <a:endParaRPr lang="en-US" sz="1500"/>
          </a:p>
        </p:txBody>
      </p:sp>
      <p:sp>
        <p:nvSpPr>
          <p:cNvPr id="9" name="OCR node"/>
          <p:cNvSpPr txBox="1"/>
          <p:nvPr/>
        </p:nvSpPr>
        <p:spPr>
          <a:xfrm>
            <a:off x="9235440" y="2606040"/>
            <a:ext cx="1920240" cy="822960"/>
          </a:xfrm>
          <a:prstGeom prst="roundRect">
            <a:avLst/>
          </a:prstGeom>
          <a:solidFill>
            <a:srgbClr val="D8E78B"/>
          </a:solidFill>
          <a:ln w="12700">
            <a:solidFill>
              <a:srgbClr val="D8E78B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73A46"/>
                </a:solidFill>
                <a:latin typeface="Aptos"/>
              </a:rPr>
              <a:t xml:space="preserve">REPORT OCR</a:t>
            </a:r>
            <a:endParaRPr lang="en-US" sz="1500"/>
          </a:p>
        </p:txBody>
      </p:sp>
      <p:sp>
        <p:nvSpPr>
          <p:cNvPr id="10" name="Review node"/>
          <p:cNvSpPr txBox="1"/>
          <p:nvPr/>
        </p:nvSpPr>
        <p:spPr>
          <a:xfrm>
            <a:off x="9235440" y="41148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173A46"/>
                </a:solidFill>
                <a:latin typeface="Aptos"/>
              </a:rPr>
              <a:t xml:space="preserve">CLINICIAN REVIEW</a:t>
            </a:r>
            <a:endParaRPr lang="en-US" sz="1300"/>
          </a:p>
        </p:txBody>
      </p:sp>
      <p:sp>
        <p:nvSpPr>
          <p:cNvPr id="11" name="Footer"/>
          <p:cNvSpPr txBox="1"/>
          <p:nvPr/>
        </p:nvSpPr>
        <p:spPr>
          <a:xfrm>
            <a:off x="786384" y="6446520"/>
            <a:ext cx="9966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B8CCC7"/>
                </a:solidFill>
                <a:latin typeface="Aptos"/>
              </a:rPr>
              <a:t xml:space="preserve">INDIA-WIDE FACILITIES  •  SYNTHETIC DATA ONLY</a:t>
            </a:r>
            <a:endParaRPr lang="en-US" sz="900"/>
          </a:p>
        </p:txBody>
      </p:sp>
      <p:sp>
        <p:nvSpPr>
          <p:cNvPr id="12" name="Page"/>
          <p:cNvSpPr txBox="1"/>
          <p:nvPr/>
        </p:nvSpPr>
        <p:spPr>
          <a:xfrm>
            <a:off x="11082528" y="6419088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FFFFFF"/>
                </a:solidFill>
                <a:latin typeface="Aptos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WHY IT MATTERS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The problem is fragmented information</a:t>
            </a:r>
            <a:endParaRPr lang="en-US" sz="3000"/>
          </a:p>
        </p:txBody>
      </p:sp>
      <p:sp>
        <p:nvSpPr>
          <p:cNvPr id="10" name="Intro"/>
          <p:cNvSpPr txBox="1"/>
          <p:nvPr/>
        </p:nvSpPr>
        <p:spPr>
          <a:xfrm>
            <a:off x="658368" y="1481328"/>
            <a:ext cx="10789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52676D"/>
                </a:solidFill>
                <a:latin typeface="Aptos"/>
              </a:rPr>
              <a:t xml:space="preserve">One intake problem, many facility realities: capture enough context to make the next qualified review faster.</a:t>
            </a:r>
            <a:endParaRPr lang="en-US" sz="1700"/>
          </a:p>
        </p:txBody>
      </p:sp>
      <p:sp>
        <p:nvSpPr>
          <p:cNvPr id="11" name="Public hospital"/>
          <p:cNvSpPr txBox="1"/>
          <p:nvPr/>
        </p:nvSpPr>
        <p:spPr>
          <a:xfrm>
            <a:off x="658368" y="2240280"/>
            <a:ext cx="34290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102A32"/>
                </a:solidFill>
                <a:latin typeface="Aptos"/>
              </a:rPr>
              <a:t xml:space="preserve">PHC / PUBLIC HOSPITAL</a:t>
            </a:r>
            <a:endParaRPr lang="en-US" sz="1700"/>
          </a:p>
          <a:p>
            <a:pPr algn="l">
              <a:buNone/>
            </a:pPr>
            <a:r>
              <a:rPr lang="en-US" sz="1700" b="1">
                <a:solidFill>
                  <a:srgbClr val="102A32"/>
                </a:solidFill>
                <a:latin typeface="Aptos"/>
              </a:rPr>
              <a:t xml:space="preserve">Long queues; limited specialist availability; varied connectivity.</a:t>
            </a:r>
            <a:endParaRPr lang="en-US" sz="1700"/>
          </a:p>
        </p:txBody>
      </p:sp>
      <p:sp>
        <p:nvSpPr>
          <p:cNvPr id="12" name="Health camp"/>
          <p:cNvSpPr txBox="1"/>
          <p:nvPr/>
        </p:nvSpPr>
        <p:spPr>
          <a:xfrm>
            <a:off x="4370832" y="2240280"/>
            <a:ext cx="34290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102A32"/>
                </a:solidFill>
                <a:latin typeface="Aptos"/>
              </a:rPr>
              <a:t xml:space="preserve">HEALTH CAMP / ASHA</a:t>
            </a:r>
            <a:endParaRPr lang="en-US" sz="1700"/>
          </a:p>
          <a:p>
            <a:pPr algn="l">
              <a:buNone/>
            </a:pPr>
            <a:r>
              <a:rPr lang="en-US" sz="1700" b="1">
                <a:solidFill>
                  <a:srgbClr val="102A32"/>
                </a:solidFill>
                <a:latin typeface="Aptos"/>
              </a:rPr>
              <a:t xml:space="preserve">Short encounters; local languages; assisted intake and referral handoff.</a:t>
            </a:r>
            <a:endParaRPr lang="en-US" sz="1700"/>
          </a:p>
        </p:txBody>
      </p:sp>
      <p:sp>
        <p:nvSpPr>
          <p:cNvPr id="13" name="Institutional clinic"/>
          <p:cNvSpPr txBox="1"/>
          <p:nvPr/>
        </p:nvSpPr>
        <p:spPr>
          <a:xfrm>
            <a:off x="8083296" y="2240280"/>
            <a:ext cx="34290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102A32"/>
                </a:solidFill>
                <a:latin typeface="Aptos"/>
              </a:rPr>
              <a:t xml:space="preserve">CAMPUS / INDUSTRIAL CLINIC</a:t>
            </a:r>
            <a:endParaRPr lang="en-US" sz="1700"/>
          </a:p>
          <a:p>
            <a:pPr algn="l">
              <a:buNone/>
            </a:pPr>
            <a:r>
              <a:rPr lang="en-US" sz="1700" b="1">
                <a:solidFill>
                  <a:srgbClr val="102A32"/>
                </a:solidFill>
                <a:latin typeface="Aptos"/>
              </a:rPr>
              <a:t xml:space="preserve">Fever screening, occupational incidents, and quick routing to care.</a:t>
            </a:r>
            <a:endParaRPr lang="en-US" sz="1700"/>
          </a:p>
        </p:txBody>
      </p:sp>
      <p:sp>
        <p:nvSpPr>
          <p:cNvPr id="14" name="Takeaway"/>
          <p:cNvSpPr txBox="1"/>
          <p:nvPr/>
        </p:nvSpPr>
        <p:spPr>
          <a:xfrm>
            <a:off x="658368" y="4617720"/>
            <a:ext cx="10853928" cy="987552"/>
          </a:xfrm>
          <a:prstGeom prst="roundRect">
            <a:avLst/>
          </a:prstGeom>
          <a:solidFill>
            <a:srgbClr val="DDF1EC"/>
          </a:solidFill>
          <a:ln w="12700">
            <a:solidFill>
              <a:srgbClr val="DDF1EC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173A46"/>
                </a:solidFill>
                <a:latin typeface="Aptos"/>
              </a:rPr>
              <a:t xml:space="preserve">DESIGN NEED</a:t>
            </a:r>
            <a:endParaRPr lang="en-US" sz="1800"/>
          </a:p>
          <a:p>
            <a:pPr algn="l">
              <a:buNone/>
            </a:pPr>
            <a:r>
              <a:rPr lang="en-US" sz="1800" b="1">
                <a:solidFill>
                  <a:srgbClr val="173A46"/>
                </a:solidFill>
                <a:latin typeface="Aptos"/>
              </a:rPr>
              <a:t xml:space="preserve">Collect symptoms, timelines, vitals, and available reports; expose uncertainty and urgency signals without making a diagnosis.</a:t>
            </a:r>
            <a:endParaRPr lang="en-US" sz="18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PROPOSED USE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A human-in-the-loop workflow</a:t>
            </a:r>
            <a:endParaRPr lang="en-US" sz="3000"/>
          </a:p>
        </p:txBody>
      </p:sp>
      <p:sp>
        <p:nvSpPr>
          <p:cNvPr id="10" name="Capture"/>
          <p:cNvSpPr txBox="1"/>
          <p:nvPr/>
        </p:nvSpPr>
        <p:spPr>
          <a:xfrm>
            <a:off x="640080" y="1874520"/>
            <a:ext cx="1874520" cy="1216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102A32"/>
                </a:solidFill>
                <a:latin typeface="Aptos"/>
              </a:rPr>
              <a:t xml:space="preserve">01  CAPTURE</a:t>
            </a:r>
            <a:endParaRPr lang="en-US" sz="1600"/>
          </a:p>
          <a:p>
            <a:pPr algn="ctr">
              <a:buNone/>
            </a:pPr>
            <a:r>
              <a:rPr lang="en-US" sz="1600" b="1">
                <a:solidFill>
                  <a:srgbClr val="102A32"/>
                </a:solidFill>
                <a:latin typeface="Aptos"/>
              </a:rPr>
              <a:t xml:space="preserve">Text, voice, vitals</a:t>
            </a:r>
            <a:endParaRPr lang="en-US" sz="1600"/>
          </a:p>
        </p:txBody>
      </p:sp>
      <p:sp>
        <p:nvSpPr>
          <p:cNvPr id="11" name="Extract"/>
          <p:cNvSpPr txBox="1"/>
          <p:nvPr/>
        </p:nvSpPr>
        <p:spPr>
          <a:xfrm>
            <a:off x="2907792" y="1874520"/>
            <a:ext cx="1874520" cy="1216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102A32"/>
                </a:solidFill>
                <a:latin typeface="Aptos"/>
              </a:rPr>
              <a:t xml:space="preserve">02  EXTRACT</a:t>
            </a:r>
            <a:endParaRPr lang="en-US" sz="1600"/>
          </a:p>
          <a:p>
            <a:pPr algn="ctr">
              <a:buNone/>
            </a:pPr>
            <a:r>
              <a:rPr lang="en-US" sz="1600" b="1">
                <a:solidFill>
                  <a:srgbClr val="102A32"/>
                </a:solidFill>
                <a:latin typeface="Aptos"/>
              </a:rPr>
              <a:t xml:space="preserve">Sample report OCR</a:t>
            </a:r>
            <a:endParaRPr lang="en-US" sz="1600"/>
          </a:p>
        </p:txBody>
      </p:sp>
      <p:sp>
        <p:nvSpPr>
          <p:cNvPr id="12" name="Organize"/>
          <p:cNvSpPr txBox="1"/>
          <p:nvPr/>
        </p:nvSpPr>
        <p:spPr>
          <a:xfrm>
            <a:off x="5175504" y="1874520"/>
            <a:ext cx="1874520" cy="1216152"/>
          </a:xfrm>
          <a:prstGeom prst="roundRect">
            <a:avLst/>
          </a:prstGeom>
          <a:solidFill>
            <a:srgbClr val="DDF1EC"/>
          </a:solidFill>
          <a:ln w="12700">
            <a:solidFill>
              <a:srgbClr val="DDF1EC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173A46"/>
                </a:solidFill>
                <a:latin typeface="Aptos"/>
              </a:rPr>
              <a:t xml:space="preserve">03  ORGANIZE</a:t>
            </a:r>
            <a:endParaRPr lang="en-US" sz="1600"/>
          </a:p>
          <a:p>
            <a:pPr algn="ctr">
              <a:buNone/>
            </a:pPr>
            <a:r>
              <a:rPr lang="en-US" sz="1600" b="1">
                <a:solidFill>
                  <a:srgbClr val="173A46"/>
                </a:solidFill>
                <a:latin typeface="Aptos"/>
              </a:rPr>
              <a:t xml:space="preserve">Timeline, gaps, flags</a:t>
            </a:r>
            <a:endParaRPr lang="en-US" sz="1600"/>
          </a:p>
        </p:txBody>
      </p:sp>
      <p:sp>
        <p:nvSpPr>
          <p:cNvPr id="13" name="Review"/>
          <p:cNvSpPr txBox="1"/>
          <p:nvPr/>
        </p:nvSpPr>
        <p:spPr>
          <a:xfrm>
            <a:off x="7443216" y="1874520"/>
            <a:ext cx="1874520" cy="1216152"/>
          </a:xfrm>
          <a:prstGeom prst="roundRect">
            <a:avLst/>
          </a:prstGeom>
          <a:solidFill>
            <a:srgbClr val="F8EACD"/>
          </a:solidFill>
          <a:ln w="12700">
            <a:solidFill>
              <a:srgbClr val="F8EACD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173A46"/>
                </a:solidFill>
                <a:latin typeface="Aptos"/>
              </a:rPr>
              <a:t xml:space="preserve">04  REVIEW</a:t>
            </a:r>
            <a:endParaRPr lang="en-US" sz="1600"/>
          </a:p>
          <a:p>
            <a:pPr algn="ctr">
              <a:buNone/>
            </a:pPr>
            <a:r>
              <a:rPr lang="en-US" sz="1600" b="1">
                <a:solidFill>
                  <a:srgbClr val="173A46"/>
                </a:solidFill>
                <a:latin typeface="Aptos"/>
              </a:rPr>
              <a:t xml:space="preserve">Qualified staff</a:t>
            </a:r>
            <a:endParaRPr lang="en-US" sz="1600"/>
          </a:p>
        </p:txBody>
      </p:sp>
      <p:sp>
        <p:nvSpPr>
          <p:cNvPr id="14" name="Handoff"/>
          <p:cNvSpPr txBox="1"/>
          <p:nvPr/>
        </p:nvSpPr>
        <p:spPr>
          <a:xfrm>
            <a:off x="9710928" y="1874520"/>
            <a:ext cx="1874520" cy="1216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02A32"/>
                </a:solidFill>
                <a:latin typeface="Aptos"/>
              </a:rPr>
              <a:t xml:space="preserve">05  HAND OFF</a:t>
            </a:r>
            <a:endParaRPr lang="en-US" sz="1500"/>
          </a:p>
          <a:p>
            <a:pPr algn="ctr">
              <a:buNone/>
            </a:pPr>
            <a:r>
              <a:rPr lang="en-US" sz="1500" b="1">
                <a:solidFill>
                  <a:srgbClr val="102A32"/>
                </a:solidFill>
                <a:latin typeface="Aptos"/>
              </a:rPr>
              <a:t xml:space="preserve">Referral / queue</a:t>
            </a:r>
            <a:endParaRPr lang="en-US" sz="1500"/>
          </a:p>
        </p:txBody>
      </p:sp>
      <p:sp>
        <p:nvSpPr>
          <p:cNvPr id="15" name="Connector 15"/>
          <p:cNvSpPr/>
          <p:nvPr/>
        </p:nvSpPr>
        <p:spPr>
          <a:xfrm>
            <a:off x="2532888" y="2468880"/>
            <a:ext cx="356616" cy="0"/>
          </a:xfrm>
          <a:prstGeom prst="line">
            <a:avLst/>
          </a:prstGeom>
          <a:ln w="25400">
            <a:solidFill>
              <a:srgbClr val="087E78"/>
            </a:solidFill>
            <a:headEnd type="triangle"/>
          </a:ln>
        </p:spPr>
      </p:sp>
      <p:sp>
        <p:nvSpPr>
          <p:cNvPr id="16" name="Connector 16"/>
          <p:cNvSpPr/>
          <p:nvPr/>
        </p:nvSpPr>
        <p:spPr>
          <a:xfrm>
            <a:off x="4800600" y="2468880"/>
            <a:ext cx="356616" cy="0"/>
          </a:xfrm>
          <a:prstGeom prst="line">
            <a:avLst/>
          </a:prstGeom>
          <a:ln w="25400">
            <a:solidFill>
              <a:srgbClr val="087E78"/>
            </a:solidFill>
            <a:headEnd type="triangle"/>
          </a:ln>
        </p:spPr>
      </p:sp>
      <p:sp>
        <p:nvSpPr>
          <p:cNvPr id="17" name="Connector 17"/>
          <p:cNvSpPr/>
          <p:nvPr/>
        </p:nvSpPr>
        <p:spPr>
          <a:xfrm>
            <a:off x="7068312" y="2468880"/>
            <a:ext cx="356616" cy="0"/>
          </a:xfrm>
          <a:prstGeom prst="line">
            <a:avLst/>
          </a:prstGeom>
          <a:ln w="25400">
            <a:solidFill>
              <a:srgbClr val="087E78"/>
            </a:solidFill>
            <a:headEnd type="triangle"/>
          </a:ln>
        </p:spPr>
      </p:sp>
      <p:sp>
        <p:nvSpPr>
          <p:cNvPr id="18" name="Connector 18"/>
          <p:cNvSpPr/>
          <p:nvPr/>
        </p:nvSpPr>
        <p:spPr>
          <a:xfrm>
            <a:off x="9336024" y="2468880"/>
            <a:ext cx="356616" cy="0"/>
          </a:xfrm>
          <a:prstGeom prst="line">
            <a:avLst/>
          </a:prstGeom>
          <a:ln w="25400">
            <a:solidFill>
              <a:srgbClr val="087E78"/>
            </a:solidFill>
            <a:headEnd type="triangle"/>
          </a:ln>
        </p:spPr>
      </p:sp>
      <p:sp>
        <p:nvSpPr>
          <p:cNvPr id="19" name="Intake support"/>
          <p:cNvSpPr txBox="1"/>
          <p:nvPr/>
        </p:nvSpPr>
        <p:spPr>
          <a:xfrm>
            <a:off x="658368" y="3794760"/>
            <a:ext cx="5257800" cy="1353312"/>
          </a:xfrm>
          <a:prstGeom prst="roundRect">
            <a:avLst/>
          </a:prstGeom>
          <a:solidFill>
            <a:srgbClr val="E2EEF0"/>
          </a:solidFill>
          <a:ln w="12700">
            <a:solidFill>
              <a:srgbClr val="E2EEF0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600" b="0">
                <a:solidFill>
                  <a:srgbClr val="173A46"/>
                </a:solidFill>
                <a:latin typeface="Aptos"/>
              </a:rPr>
              <a:t xml:space="preserve">INTAKE SUPPORT</a:t>
            </a:r>
            <a:endParaRPr lang="en-US" sz="1600"/>
          </a:p>
          <a:p>
            <a:pPr algn="l">
              <a:buNone/>
            </a:pPr>
            <a:r>
              <a:rPr lang="en-US" sz="1600" b="0">
                <a:solidFill>
                  <a:srgbClr val="173A46"/>
                </a:solidFill>
                <a:latin typeface="Aptos"/>
              </a:rPr>
              <a:t xml:space="preserve">Patient, ASHA / ANM, nurse, or camp worker records what was reported and what is still unknown.</a:t>
            </a:r>
            <a:endParaRPr lang="en-US" sz="1600"/>
          </a:p>
        </p:txBody>
      </p:sp>
      <p:sp>
        <p:nvSpPr>
          <p:cNvPr id="20" name="Clinical authority"/>
          <p:cNvSpPr txBox="1"/>
          <p:nvPr/>
        </p:nvSpPr>
        <p:spPr>
          <a:xfrm>
            <a:off x="6199632" y="3794760"/>
            <a:ext cx="5285232" cy="1353312"/>
          </a:xfrm>
          <a:prstGeom prst="roundRect">
            <a:avLst/>
          </a:prstGeom>
          <a:solidFill>
            <a:srgbClr val="DDF1EC"/>
          </a:solidFill>
          <a:ln w="12700">
            <a:solidFill>
              <a:srgbClr val="DDF1EC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600" b="0">
                <a:solidFill>
                  <a:srgbClr val="173A46"/>
                </a:solidFill>
                <a:latin typeface="Aptos"/>
              </a:rPr>
              <a:t xml:space="preserve">CLINICAL AUTHORITY</a:t>
            </a:r>
            <a:endParaRPr lang="en-US" sz="1600"/>
          </a:p>
          <a:p>
            <a:pPr algn="l">
              <a:buNone/>
            </a:pPr>
            <a:r>
              <a:rPr lang="en-US" sz="1600" b="0">
                <a:solidFill>
                  <a:srgbClr val="173A46"/>
                </a:solidFill>
                <a:latin typeface="Aptos"/>
              </a:rPr>
              <a:t xml:space="preserve">Doctor / qualified reviewer checks source information, confirms urgency, and decides the next step.</a:t>
            </a:r>
            <a:endParaRPr lang="en-US" sz="16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PROJECT ANALYSIS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What the current prototype demonstrates</a:t>
            </a:r>
            <a:endParaRPr lang="en-US" sz="3000"/>
          </a:p>
        </p:txBody>
      </p:sp>
      <p:sp>
        <p:nvSpPr>
          <p:cNvPr id="10" name="Table heading"/>
          <p:cNvSpPr txBox="1"/>
          <p:nvPr/>
        </p:nvSpPr>
        <p:spPr>
          <a:xfrm>
            <a:off x="658368" y="1527048"/>
            <a:ext cx="10881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87E78"/>
                </a:solidFill>
                <a:latin typeface="Aptos"/>
              </a:rPr>
              <a:t xml:space="preserve">CAPABILITY                                  WHAT THE PROJECT SHOWS                                      STATUS / CAVEAT</a:t>
            </a:r>
            <a:endParaRPr lang="en-US" sz="1200"/>
          </a:p>
        </p:txBody>
      </p:sp>
      <p:sp>
        <p:nvSpPr>
          <p:cNvPr id="11" name="Voice row"/>
          <p:cNvSpPr txBox="1"/>
          <p:nvPr/>
        </p:nvSpPr>
        <p:spPr>
          <a:xfrm>
            <a:off x="658368" y="1984248"/>
            <a:ext cx="10881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37160" rIns="137160" tIns="137160" bIns="137160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02A32"/>
                </a:solidFill>
                <a:latin typeface="Aptos"/>
              </a:rPr>
              <a:t xml:space="preserve">Voice + text intake             Browser speech, adaptive questions, Odia / Hindi / English UI       Browser support varies</a:t>
            </a:r>
            <a:endParaRPr lang="en-US" sz="1400"/>
          </a:p>
        </p:txBody>
      </p:sp>
      <p:sp>
        <p:nvSpPr>
          <p:cNvPr id="12" name="OCR row"/>
          <p:cNvSpPr txBox="1"/>
          <p:nvPr/>
        </p:nvSpPr>
        <p:spPr>
          <a:xfrm>
            <a:off x="658368" y="2724912"/>
            <a:ext cx="10881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37160" rIns="137160" tIns="137160" bIns="137160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02A32"/>
                </a:solidFill>
                <a:latin typeface="Aptos"/>
              </a:rPr>
              <a:t xml:space="preserve">Report extraction                 Gemini image OCR + demo sample reports                            External API when configured</a:t>
            </a:r>
            <a:endParaRPr lang="en-US" sz="1400"/>
          </a:p>
        </p:txBody>
      </p:sp>
      <p:sp>
        <p:nvSpPr>
          <p:cNvPr id="13" name="Triage row"/>
          <p:cNvSpPr txBox="1"/>
          <p:nvPr/>
        </p:nvSpPr>
        <p:spPr>
          <a:xfrm>
            <a:off x="658368" y="3465576"/>
            <a:ext cx="10881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37160" rIns="137160" tIns="137160" bIns="137160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02A32"/>
                </a:solidFill>
                <a:latin typeface="Aptos"/>
              </a:rPr>
              <a:t xml:space="preserve">Risk cues + structured note   Rules for vitals / selected lab flags; note in app                   Not clinically validated; paths differ</a:t>
            </a:r>
            <a:endParaRPr lang="en-US" sz="1400"/>
          </a:p>
        </p:txBody>
      </p:sp>
      <p:sp>
        <p:nvSpPr>
          <p:cNvPr id="14" name="Review row"/>
          <p:cNvSpPr txBox="1"/>
          <p:nvPr/>
        </p:nvSpPr>
        <p:spPr>
          <a:xfrm>
            <a:off x="658368" y="4206240"/>
            <a:ext cx="10881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37160" rIns="137160" tIns="137160" bIns="137160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02A32"/>
                </a:solidFill>
                <a:latin typeface="Aptos"/>
              </a:rPr>
              <a:t xml:space="preserve">Reviewer + referral              Doctor / nurse dashboard, mock queue, referral workflow        Seeded demo data; verify live wiring</a:t>
            </a:r>
            <a:endParaRPr lang="en-US" sz="1400"/>
          </a:p>
        </p:txBody>
      </p:sp>
      <p:sp>
        <p:nvSpPr>
          <p:cNvPr id="15" name="Roadmap note"/>
          <p:cNvSpPr txBox="1"/>
          <p:nvPr/>
        </p:nvSpPr>
        <p:spPr>
          <a:xfrm>
            <a:off x="658368" y="5102352"/>
            <a:ext cx="10881360" cy="758952"/>
          </a:xfrm>
          <a:prstGeom prst="roundRect">
            <a:avLst/>
          </a:prstGeom>
          <a:solidFill>
            <a:srgbClr val="F8EACD"/>
          </a:solidFill>
          <a:ln w="12700">
            <a:solidFill>
              <a:srgbClr val="F8EACD"/>
            </a:solidFill>
          </a:ln>
        </p:spPr>
        <p:txBody>
          <a:bodyPr wrap="square" anchor="ctr" lIns="164592" rIns="164592" tIns="164592" bIns="164592">
            <a:norm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173A46"/>
                </a:solidFill>
                <a:latin typeface="Aptos"/>
              </a:rPr>
              <a:t xml:space="preserve">ROADMAP: Bhashini localization, resilient offline sync, ABDM consent integration, standards mapping, and facility-grade role controls.</a:t>
            </a:r>
            <a:endParaRPr lang="en-US" sz="16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DEMO STORY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Three-minute demo: from voice to review</a:t>
            </a:r>
            <a:endParaRPr lang="en-US" sz="3000"/>
          </a:p>
        </p:txBody>
      </p:sp>
      <p:sp>
        <p:nvSpPr>
          <p:cNvPr id="10" name="Synthetic label"/>
          <p:cNvSpPr txBox="1"/>
          <p:nvPr/>
        </p:nvSpPr>
        <p:spPr>
          <a:xfrm>
            <a:off x="658368" y="1536192"/>
            <a:ext cx="10844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BD5149"/>
                </a:solidFill>
                <a:latin typeface="Aptos"/>
              </a:rPr>
              <a:t xml:space="preserve">ILLUSTRATIVE CASE  •  SYNTHETIC REPORT DATA  •  NO REAL PATIENT INFORMATION</a:t>
            </a:r>
            <a:endParaRPr lang="en-US" sz="1200"/>
          </a:p>
        </p:txBody>
      </p:sp>
      <p:sp>
        <p:nvSpPr>
          <p:cNvPr id="11" name="Patient report"/>
          <p:cNvSpPr txBox="1"/>
          <p:nvPr/>
        </p:nvSpPr>
        <p:spPr>
          <a:xfrm>
            <a:off x="658368" y="2139696"/>
            <a:ext cx="333756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PATIENT-REPORTED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“Fever for three days; vomiting and weakness.”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/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Voice transcript + language selection</a:t>
            </a:r>
            <a:endParaRPr lang="en-US" sz="1700"/>
          </a:p>
        </p:txBody>
      </p:sp>
      <p:sp>
        <p:nvSpPr>
          <p:cNvPr id="12" name="Sample OCR"/>
          <p:cNvSpPr txBox="1"/>
          <p:nvPr/>
        </p:nvSpPr>
        <p:spPr>
          <a:xfrm>
            <a:off x="4425696" y="2139696"/>
            <a:ext cx="3337560" cy="2157984"/>
          </a:xfrm>
          <a:prstGeom prst="roundRect">
            <a:avLst/>
          </a:prstGeom>
          <a:solidFill>
            <a:srgbClr val="E2EEF0"/>
          </a:solidFill>
          <a:ln w="12700">
            <a:solidFill>
              <a:srgbClr val="E2EEF0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SAMPLE CBC OCR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Platelets: 42,000 /cumm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WBC: 3,100 /cumm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/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Verify OCR against original image.</a:t>
            </a:r>
            <a:endParaRPr lang="en-US" sz="1700"/>
          </a:p>
        </p:txBody>
      </p:sp>
      <p:sp>
        <p:nvSpPr>
          <p:cNvPr id="13" name="Reviewer view"/>
          <p:cNvSpPr txBox="1"/>
          <p:nvPr/>
        </p:nvSpPr>
        <p:spPr>
          <a:xfrm>
            <a:off x="8193024" y="2139696"/>
            <a:ext cx="3337560" cy="2157984"/>
          </a:xfrm>
          <a:prstGeom prst="roundRect">
            <a:avLst/>
          </a:prstGeom>
          <a:solidFill>
            <a:srgbClr val="DDF1EC"/>
          </a:solidFill>
          <a:ln w="12700">
            <a:solidFill>
              <a:srgbClr val="DDF1EC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REVIEWER VIEW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Flag for prompt qualified review; show extracted values, source report, and clarifying questions.</a:t>
            </a:r>
            <a:endParaRPr lang="en-US" sz="1700"/>
          </a:p>
        </p:txBody>
      </p:sp>
      <p:sp>
        <p:nvSpPr>
          <p:cNvPr id="14" name="Boundary"/>
          <p:cNvSpPr txBox="1"/>
          <p:nvPr/>
        </p:nvSpPr>
        <p:spPr>
          <a:xfrm>
            <a:off x="658368" y="4681728"/>
            <a:ext cx="10872216" cy="896112"/>
          </a:xfrm>
          <a:prstGeom prst="roundRect">
            <a:avLst/>
          </a:prstGeom>
          <a:solidFill>
            <a:srgbClr val="173A46"/>
          </a:solidFill>
          <a:ln w="12700">
            <a:solidFill>
              <a:srgbClr val="173A46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Aptos"/>
              </a:rPr>
              <a:t xml:space="preserve">Organizes reported facts and possible urgency signals. Does not diagnose, prescribe, or replace clinician judgment.</a:t>
            </a:r>
            <a:endParaRPr lang="en-US" sz="18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INFORMATION EXTRACTION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The useful output is a reviewable note</a:t>
            </a:r>
            <a:endParaRPr lang="en-US" sz="3000"/>
          </a:p>
        </p:txBody>
      </p:sp>
      <p:sp>
        <p:nvSpPr>
          <p:cNvPr id="10" name="Note heading"/>
          <p:cNvSpPr txBox="1"/>
          <p:nvPr/>
        </p:nvSpPr>
        <p:spPr>
          <a:xfrm>
            <a:off x="658368" y="1481328"/>
            <a:ext cx="7543800" cy="438912"/>
          </a:xfrm>
          <a:prstGeom prst="rect">
            <a:avLst/>
          </a:prstGeom>
          <a:solidFill>
            <a:srgbClr val="173A46"/>
          </a:solidFill>
          <a:ln w="12700">
            <a:solidFill>
              <a:srgbClr val="173A46"/>
            </a:solidFill>
          </a:ln>
        </p:spPr>
        <p:txBody>
          <a:bodyPr wrap="square" anchor="ctr" lIns="128016" rIns="128016" tIns="128016" bIns="128016">
            <a:norm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Aptos"/>
              </a:rPr>
              <a:t xml:space="preserve">TRIAGE NOTE  /  REVIEW REQUIRED  /  SAMPLE CASE</a:t>
            </a:r>
            <a:endParaRPr lang="en-US" sz="1300"/>
          </a:p>
        </p:txBody>
      </p:sp>
      <p:sp>
        <p:nvSpPr>
          <p:cNvPr id="11" name="Summary"/>
          <p:cNvSpPr txBox="1"/>
          <p:nvPr/>
        </p:nvSpPr>
        <p:spPr>
          <a:xfrm>
            <a:off x="658368" y="1993392"/>
            <a:ext cx="7543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46304" rIns="146304" tIns="146304" bIns="146304">
            <a:normAutofit/>
          </a:bodyPr>
          <a:lstStyle/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Reported: fever x 3 days, vomiting, weakness.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Source: patient voice transcript; confirm wording with patient.</a:t>
            </a:r>
            <a:endParaRPr lang="en-US" sz="1500"/>
          </a:p>
        </p:txBody>
      </p:sp>
      <p:sp>
        <p:nvSpPr>
          <p:cNvPr id="12" name="Report values"/>
          <p:cNvSpPr txBox="1"/>
          <p:nvPr/>
        </p:nvSpPr>
        <p:spPr>
          <a:xfrm>
            <a:off x="658368" y="3108960"/>
            <a:ext cx="3657600" cy="1207008"/>
          </a:xfrm>
          <a:prstGeom prst="rect">
            <a:avLst/>
          </a:prstGeom>
          <a:solidFill>
            <a:srgbClr val="E2EEF0"/>
          </a:solidFill>
          <a:ln w="12700">
            <a:solidFill>
              <a:srgbClr val="E2EEF0"/>
            </a:solidFill>
          </a:ln>
        </p:spPr>
        <p:txBody>
          <a:bodyPr wrap="square" anchor="ctr" lIns="146304" rIns="146304" tIns="146304" bIns="146304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173A46"/>
                </a:solidFill>
                <a:latin typeface="Aptos"/>
              </a:rPr>
              <a:t xml:space="preserve">REPORT VALUES</a:t>
            </a:r>
            <a:endParaRPr lang="en-US" sz="1400"/>
          </a:p>
          <a:p>
            <a:pPr algn="l">
              <a:buNone/>
            </a:pPr>
            <a:r>
              <a:rPr lang="en-US" sz="1400" b="1">
                <a:solidFill>
                  <a:srgbClr val="173A46"/>
                </a:solidFill>
                <a:latin typeface="Aptos"/>
              </a:rPr>
              <a:t xml:space="preserve">Platelets 42,000 /cumm</a:t>
            </a:r>
            <a:endParaRPr lang="en-US" sz="1400"/>
          </a:p>
          <a:p>
            <a:pPr algn="l">
              <a:buNone/>
            </a:pPr>
            <a:r>
              <a:rPr lang="en-US" sz="1400" b="1">
                <a:solidFill>
                  <a:srgbClr val="173A46"/>
                </a:solidFill>
                <a:latin typeface="Aptos"/>
              </a:rPr>
              <a:t xml:space="preserve">WBC 3,100 /cumm</a:t>
            </a:r>
            <a:endParaRPr lang="en-US" sz="1400"/>
          </a:p>
          <a:p>
            <a:pPr algn="l">
              <a:buNone/>
            </a:pPr>
            <a:r>
              <a:rPr lang="en-US" sz="1400" b="1">
                <a:solidFill>
                  <a:srgbClr val="173A46"/>
                </a:solidFill>
                <a:latin typeface="Aptos"/>
              </a:rPr>
              <a:t xml:space="preserve">OCR: verify original image</a:t>
            </a:r>
            <a:endParaRPr lang="en-US" sz="1400"/>
          </a:p>
        </p:txBody>
      </p:sp>
      <p:sp>
        <p:nvSpPr>
          <p:cNvPr id="13" name="Missing info"/>
          <p:cNvSpPr txBox="1"/>
          <p:nvPr/>
        </p:nvSpPr>
        <p:spPr>
          <a:xfrm>
            <a:off x="4535424" y="3108960"/>
            <a:ext cx="3666744" cy="1207008"/>
          </a:xfrm>
          <a:prstGeom prst="rect">
            <a:avLst/>
          </a:prstGeom>
          <a:solidFill>
            <a:srgbClr val="F8EACD"/>
          </a:solidFill>
          <a:ln w="12700">
            <a:solidFill>
              <a:srgbClr val="F8EACD"/>
            </a:solidFill>
          </a:ln>
        </p:spPr>
        <p:txBody>
          <a:bodyPr wrap="square" anchor="ctr" lIns="146304" rIns="146304" tIns="146304" bIns="146304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73A46"/>
                </a:solidFill>
                <a:latin typeface="Aptos"/>
              </a:rPr>
              <a:t xml:space="preserve">MISSING / UNCERTAIN</a:t>
            </a:r>
            <a:endParaRPr lang="en-US" sz="1400"/>
          </a:p>
          <a:p>
            <a:pPr algn="l">
              <a:buNone/>
            </a:pPr>
            <a:r>
              <a:rPr lang="en-US" sz="1400" b="0">
                <a:solidFill>
                  <a:srgbClr val="173A46"/>
                </a:solidFill>
                <a:latin typeface="Aptos"/>
              </a:rPr>
              <a:t xml:space="preserve">Vitals confirmation; allergies and history; report date / identity match.</a:t>
            </a:r>
            <a:endParaRPr lang="en-US" sz="1400"/>
          </a:p>
        </p:txBody>
      </p:sp>
      <p:sp>
        <p:nvSpPr>
          <p:cNvPr id="14" name="Questions"/>
          <p:cNvSpPr txBox="1"/>
          <p:nvPr/>
        </p:nvSpPr>
        <p:spPr>
          <a:xfrm>
            <a:off x="658368" y="4480560"/>
            <a:ext cx="7543800" cy="987552"/>
          </a:xfrm>
          <a:prstGeom prst="rect">
            <a:avLst/>
          </a:prstGeom>
          <a:solidFill>
            <a:srgbClr val="DDF1EC"/>
          </a:solidFill>
          <a:ln w="12700">
            <a:solidFill>
              <a:srgbClr val="DDF1EC"/>
            </a:solidFill>
          </a:ln>
        </p:spPr>
        <p:txBody>
          <a:bodyPr wrap="square" anchor="ctr" lIns="146304" rIns="146304" tIns="146304" bIns="146304">
            <a:normAutofit/>
          </a:bodyPr>
          <a:lstStyle/>
          <a:p>
            <a:pPr algn="l">
              <a:buNone/>
            </a:pPr>
            <a:r>
              <a:rPr lang="en-US" sz="1500" b="1">
                <a:solidFill>
                  <a:srgbClr val="173A46"/>
                </a:solidFill>
                <a:latin typeface="Aptos"/>
              </a:rPr>
              <a:t xml:space="preserve">QUESTIONS FOR QUALIFIED REVIEWER</a:t>
            </a:r>
            <a:endParaRPr lang="en-US" sz="1500"/>
          </a:p>
          <a:p>
            <a:pPr algn="l">
              <a:buNone/>
            </a:pPr>
            <a:r>
              <a:rPr lang="en-US" sz="1500" b="1">
                <a:solidFill>
                  <a:srgbClr val="173A46"/>
                </a:solidFill>
                <a:latin typeface="Aptos"/>
              </a:rPr>
              <a:t xml:space="preserve">Clarify bleeding, hydration / urine output, symptom progression, and relevant history.</a:t>
            </a:r>
            <a:endParaRPr lang="en-US" sz="1500"/>
          </a:p>
        </p:txBody>
      </p:sp>
      <p:sp>
        <p:nvSpPr>
          <p:cNvPr id="15" name="Priority rail"/>
          <p:cNvSpPr txBox="1"/>
          <p:nvPr/>
        </p:nvSpPr>
        <p:spPr>
          <a:xfrm>
            <a:off x="8577072" y="1481328"/>
            <a:ext cx="2944368" cy="3986784"/>
          </a:xfrm>
          <a:prstGeom prst="roundRect">
            <a:avLst/>
          </a:prstGeom>
          <a:solidFill>
            <a:srgbClr val="F5DEDA"/>
          </a:solidFill>
          <a:ln w="12700">
            <a:solidFill>
              <a:srgbClr val="F5DEDA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>PRIORITY SIGNAL</a:t>
            </a:r>
            <a:endParaRPr lang="en-US" sz="1900"/>
          </a:p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/>
            </a:r>
            <a:endParaRPr lang="en-US" sz="1900"/>
          </a:p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>RED / REVIEW NOW</a:t>
            </a:r>
            <a:endParaRPr lang="en-US" sz="1900"/>
          </a:p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/>
            </a:r>
            <a:endParaRPr lang="en-US" sz="1900"/>
          </a:p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>Example rules-based flag only.</a:t>
            </a:r>
            <a:endParaRPr lang="en-US" sz="1900"/>
          </a:p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/>
            </a:r>
            <a:endParaRPr lang="en-US" sz="1900"/>
          </a:p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>Clinician confirms, changes, or dismisses.</a:t>
            </a:r>
            <a:endParaRPr lang="en-US" sz="1900"/>
          </a:p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/>
            </a:r>
            <a:endParaRPr lang="en-US" sz="1900"/>
          </a:p>
          <a:p>
            <a:pPr algn="ctr">
              <a:buNone/>
            </a:pPr>
            <a:r>
              <a:rPr lang="en-US" sz="1900" b="1">
                <a:solidFill>
                  <a:srgbClr val="BD5149"/>
                </a:solidFill>
                <a:latin typeface="Aptos"/>
              </a:rPr>
              <a:t xml:space="preserve">No diagnosis. No treatment instructions.</a:t>
            </a:r>
            <a:endParaRPr lang="en-US" sz="19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HOW IT WORKS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Architecture and safety boundaries</a:t>
            </a:r>
            <a:endParaRPr lang="en-US" sz="3000"/>
          </a:p>
        </p:txBody>
      </p:sp>
      <p:sp>
        <p:nvSpPr>
          <p:cNvPr id="10" name="Prototype path"/>
          <p:cNvSpPr txBox="1"/>
          <p:nvPr/>
        </p:nvSpPr>
        <p:spPr>
          <a:xfrm>
            <a:off x="658368" y="1554480"/>
            <a:ext cx="52760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PROTOTYPE PATH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/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React intake UI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Browser speech recognition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Gemini multimodal OCR (configured key)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Client-side heuristic triage note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Optional Firestore persistence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Doctor / nurse dashboard</a:t>
            </a:r>
            <a:endParaRPr lang="en-US" sz="1700"/>
          </a:p>
        </p:txBody>
      </p:sp>
      <p:sp>
        <p:nvSpPr>
          <p:cNvPr id="11" name="Safety controls"/>
          <p:cNvSpPr txBox="1"/>
          <p:nvPr/>
        </p:nvSpPr>
        <p:spPr>
          <a:xfrm>
            <a:off x="6199632" y="1554480"/>
            <a:ext cx="5321808" cy="3566160"/>
          </a:xfrm>
          <a:prstGeom prst="roundRect">
            <a:avLst/>
          </a:prstGeom>
          <a:solidFill>
            <a:srgbClr val="DDF1EC"/>
          </a:solidFill>
          <a:ln w="12700">
            <a:solidFill>
              <a:srgbClr val="DDF1EC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SAFETY CONTROL POINTS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/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Keep original transcript and image available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Mark source + uncertainty for extracted values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Show missing fields and provisional flags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Require authorized reviewer confirmation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Escalate using facility-approved protocols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Never generate treatment advice</a:t>
            </a:r>
            <a:endParaRPr lang="en-US" sz="1700"/>
          </a:p>
        </p:txBody>
      </p:sp>
      <p:sp>
        <p:nvSpPr>
          <p:cNvPr id="12" name="Architecture caveat"/>
          <p:cNvSpPr txBox="1"/>
          <p:nvPr/>
        </p:nvSpPr>
        <p:spPr>
          <a:xfrm>
            <a:off x="658368" y="5367528"/>
            <a:ext cx="108630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BD5149"/>
                </a:solidFill>
                <a:latin typeface="Aptos"/>
              </a:rPr>
              <a:t xml:space="preserve">The app note-generation path and separate Express triage service are not one proven, unified clinical pipeline.</a:t>
            </a:r>
            <a:endParaRPr lang="en-US" sz="14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RESPONSIBLE AI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Privacy: be transparent about what is real today</a:t>
            </a:r>
            <a:endParaRPr lang="en-US" sz="3000"/>
          </a:p>
        </p:txBody>
      </p:sp>
      <p:sp>
        <p:nvSpPr>
          <p:cNvPr id="10" name="Observed"/>
          <p:cNvSpPr txBox="1"/>
          <p:nvPr/>
        </p:nvSpPr>
        <p:spPr>
          <a:xfrm>
            <a:off x="658368" y="1572768"/>
            <a:ext cx="526694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OBSERVED IN THE PROTOTYPE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/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Intake draft is saved in browser localStorage.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OCR may send uploaded images to Gemini.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Firestore can persist triage notes if configured.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Consent concepts appear in a separate GovTech screen; intake enforcement is not established here.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Sample identities should be treated as demo fixtures.</a:t>
            </a:r>
            <a:endParaRPr lang="en-US" sz="1500"/>
          </a:p>
        </p:txBody>
      </p:sp>
      <p:sp>
        <p:nvSpPr>
          <p:cNvPr id="11" name="Before pilot"/>
          <p:cNvSpPr txBox="1"/>
          <p:nvPr/>
        </p:nvSpPr>
        <p:spPr>
          <a:xfrm>
            <a:off x="6199632" y="1572768"/>
            <a:ext cx="5321808" cy="3566160"/>
          </a:xfrm>
          <a:prstGeom prst="roundRect">
            <a:avLst/>
          </a:prstGeom>
          <a:solidFill>
            <a:srgbClr val="DDF1EC"/>
          </a:solidFill>
          <a:ln w="12700">
            <a:solidFill>
              <a:srgbClr val="DDF1EC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BEFORE ANY REAL-WORLD PILOT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/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Synthetic/public data only for demos.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Obtain explicit, language-appropriate consent.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Minimize identifiers; define retention and deletion.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Use verified role-based access and audit events.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Document external processing; secure keys server-side.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Test offline, access, and failure behavior.</a:t>
            </a:r>
            <a:endParaRPr lang="en-US" sz="1500"/>
          </a:p>
        </p:txBody>
      </p:sp>
      <p:sp>
        <p:nvSpPr>
          <p:cNvPr id="12" name="Caveat"/>
          <p:cNvSpPr txBox="1"/>
          <p:nvPr/>
        </p:nvSpPr>
        <p:spPr>
          <a:xfrm>
            <a:off x="658368" y="5385816"/>
            <a:ext cx="10863072" cy="502920"/>
          </a:xfrm>
          <a:prstGeom prst="rect">
            <a:avLst/>
          </a:prstGeom>
          <a:solidFill>
            <a:srgbClr val="F8EACD"/>
          </a:solidFill>
          <a:ln w="12700">
            <a:solidFill>
              <a:srgbClr val="F8EACD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73A46"/>
                </a:solidFill>
                <a:latin typeface="Aptos"/>
              </a:rPr>
              <a:t xml:space="preserve">Prototype privacy controls are not deployment certification or proof of regulatory compliance.</a:t>
            </a:r>
            <a:endParaRPr lang="en-US" sz="15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08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RUBRIC ALIGNMENT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Evaluation: make each criterion visible</a:t>
            </a:r>
            <a:endParaRPr lang="en-US" sz="3000"/>
          </a:p>
        </p:txBody>
      </p:sp>
      <p:sp>
        <p:nvSpPr>
          <p:cNvPr id="10" name="Rubric part one"/>
          <p:cNvSpPr txBox="1"/>
          <p:nvPr/>
        </p:nvSpPr>
        <p:spPr>
          <a:xfrm>
            <a:off x="658368" y="1508760"/>
            <a:ext cx="5276088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SAFETY-FIRST WORKFLOW                         20%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Show non-diagnostic output + clinician sign-off.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/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EXTRACTION &amp; SUMMARY                         20%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Compare OCR / summary against synthetic source.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/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MULTIMODAL CAPABILITY                         15%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Demonstrate text, voice, and sample report OCR.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/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INDIA-WIDE RELEVANCE                           15%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02A32"/>
                </a:solidFill>
                <a:latin typeface="Aptos"/>
              </a:rPr>
              <a:t xml:space="preserve">Show language and facility scenarios.</a:t>
            </a:r>
            <a:endParaRPr lang="en-US" sz="1500"/>
          </a:p>
        </p:txBody>
      </p:sp>
      <p:sp>
        <p:nvSpPr>
          <p:cNvPr id="11" name="Rubric part two"/>
          <p:cNvSpPr txBox="1"/>
          <p:nvPr/>
        </p:nvSpPr>
        <p:spPr>
          <a:xfrm>
            <a:off x="6199632" y="1508760"/>
            <a:ext cx="5321808" cy="4370832"/>
          </a:xfrm>
          <a:prstGeom prst="roundRect">
            <a:avLst/>
          </a:prstGeom>
          <a:solidFill>
            <a:srgbClr val="E2EEF0"/>
          </a:solidFill>
          <a:ln w="12700">
            <a:solidFill>
              <a:srgbClr val="E2EEF0"/>
            </a:solidFill>
          </a:ln>
        </p:spPr>
        <p:txBody>
          <a:bodyPr wrap="square" anchor="ctr" lIns="182880" rIns="182880" tIns="182880" bIns="182880">
            <a:normAutofit/>
          </a:bodyPr>
          <a:lstStyle/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HUMAN REVIEW + ESCALATION                  15%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Use a clear queue, escalation path, and override.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/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PRIVACY + RESPONSIBLE AI                    10%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Use synthetic data; explain consent, retention, OCR transfer.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/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DEMO QUALITY                                      5%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Keep the three-minute flow focused and reproducible.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/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MEASURE, DON’T CLAIM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173A46"/>
                </a:solidFill>
                <a:latin typeface="Aptos"/>
              </a:rPr>
              <a:t xml:space="preserve">Report extraction accuracy and reviewer corrections on a synthetic test set; label as prototype evidence.</a:t>
            </a:r>
            <a:endParaRPr lang="en-US" sz="15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09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21792" y="329184"/>
            <a:ext cx="10881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87E78"/>
                </a:solidFill>
                <a:latin typeface="Aptos"/>
              </a:rPr>
              <a:t xml:space="preserve">NEXT STEPS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621792" y="6858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3000" b="1">
                <a:solidFill>
                  <a:srgbClr val="102A32"/>
                </a:solidFill>
                <a:latin typeface="Aptos"/>
              </a:rPr>
              <a:t xml:space="preserve">A focused path from prototype to responsible pilot</a:t>
            </a:r>
            <a:endParaRPr lang="en-US" sz="3000"/>
          </a:p>
        </p:txBody>
      </p:sp>
      <p:sp>
        <p:nvSpPr>
          <p:cNvPr id="10" name="Demo now"/>
          <p:cNvSpPr txBox="1"/>
          <p:nvPr/>
        </p:nvSpPr>
        <p:spPr>
          <a:xfrm>
            <a:off x="658368" y="1572768"/>
            <a:ext cx="345643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DE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DEMO NOW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/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Synthetic case only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Voice or text intake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Load demo report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Open reviewer queue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02A32"/>
                </a:solidFill>
                <a:latin typeface="Aptos"/>
              </a:rPr>
              <a:t xml:space="preserve">Show note + disclaimer</a:t>
            </a:r>
            <a:endParaRPr lang="en-US" sz="1700"/>
          </a:p>
        </p:txBody>
      </p:sp>
      <p:sp>
        <p:nvSpPr>
          <p:cNvPr id="11" name="Harden"/>
          <p:cNvSpPr txBox="1"/>
          <p:nvPr/>
        </p:nvSpPr>
        <p:spPr>
          <a:xfrm>
            <a:off x="4370832" y="1572768"/>
            <a:ext cx="3456432" cy="3566160"/>
          </a:xfrm>
          <a:prstGeom prst="roundRect">
            <a:avLst/>
          </a:prstGeom>
          <a:solidFill>
            <a:srgbClr val="F8EACD"/>
          </a:solidFill>
          <a:ln w="12700">
            <a:solidFill>
              <a:srgbClr val="F8EACD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HARDEN NEXT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/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One triage pathway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Consent gate + deletion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OCR provenance / confidence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Server-side secrets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Role access + audit</a:t>
            </a:r>
            <a:endParaRPr lang="en-US" sz="1700"/>
          </a:p>
        </p:txBody>
      </p:sp>
      <p:sp>
        <p:nvSpPr>
          <p:cNvPr id="12" name="Validate"/>
          <p:cNvSpPr txBox="1"/>
          <p:nvPr/>
        </p:nvSpPr>
        <p:spPr>
          <a:xfrm>
            <a:off x="8083296" y="1572768"/>
            <a:ext cx="3456432" cy="3566160"/>
          </a:xfrm>
          <a:prstGeom prst="roundRect">
            <a:avLst/>
          </a:prstGeom>
          <a:solidFill>
            <a:srgbClr val="DDF1EC"/>
          </a:solidFill>
          <a:ln w="12700">
            <a:solidFill>
              <a:srgbClr val="DDF1EC"/>
            </a:solidFill>
          </a:ln>
        </p:spPr>
        <p:txBody>
          <a:bodyPr wrap="square" anchor="ctr" lIns="201168" rIns="201168" tIns="201168" bIns="201168">
            <a:normAutofit/>
          </a:bodyPr>
          <a:lstStyle/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VALIDATE BEFORE PILOT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/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Clinician-reviewed scenarios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Regional language testing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Offline / sync failure drills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Governance + clinical sign-off</a:t>
            </a:r>
            <a:endParaRPr lang="en-US" sz="1700"/>
          </a:p>
          <a:p>
            <a:pPr algn="l">
              <a:buNone/>
            </a:pPr>
            <a:r>
              <a:rPr lang="en-US" sz="1700" b="0">
                <a:solidFill>
                  <a:srgbClr val="173A46"/>
                </a:solidFill>
                <a:latin typeface="Aptos"/>
              </a:rPr>
              <a:t xml:space="preserve">Facility-specific escalation</a:t>
            </a:r>
            <a:endParaRPr lang="en-US" sz="1700"/>
          </a:p>
        </p:txBody>
      </p:sp>
      <p:sp>
        <p:nvSpPr>
          <p:cNvPr id="13" name="Close"/>
          <p:cNvSpPr txBox="1"/>
          <p:nvPr/>
        </p:nvSpPr>
        <p:spPr>
          <a:xfrm>
            <a:off x="658368" y="5394960"/>
            <a:ext cx="10881360" cy="566928"/>
          </a:xfrm>
          <a:prstGeom prst="roundRect">
            <a:avLst/>
          </a:prstGeom>
          <a:solidFill>
            <a:srgbClr val="173A46"/>
          </a:solidFill>
          <a:ln w="12700">
            <a:solidFill>
              <a:srgbClr val="173A46"/>
            </a:solidFill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Aptos"/>
              </a:rPr>
              <a:t xml:space="preserve">Faster review starts with clearer information. Clinical decisions stay with qualified people.</a:t>
            </a:r>
            <a:endParaRPr lang="en-US" sz="1900"/>
          </a:p>
        </p:txBody>
      </p:sp>
      <p:sp>
        <p:nvSpPr>
          <p:cNvPr id="900" name="Footer"/>
          <p:cNvSpPr txBox="1"/>
          <p:nvPr/>
        </p:nvSpPr>
        <p:spPr>
          <a:xfrm>
            <a:off x="621792" y="6528816"/>
            <a:ext cx="10012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52676D"/>
                </a:solidFill>
                <a:latin typeface="Aptos"/>
              </a:rPr>
              <a:t xml:space="preserve">EDUCATIONAL PROTOTYPE  |  SYNTHETIC DEMO DATA  |  NOT FOR DIAGNOSIS OR TREATMENT</a:t>
            </a:r>
            <a:endParaRPr lang="en-US" sz="800"/>
          </a:p>
        </p:txBody>
      </p:sp>
      <p:sp>
        <p:nvSpPr>
          <p:cNvPr id="901" name="Page"/>
          <p:cNvSpPr txBox="1"/>
          <p:nvPr/>
        </p:nvSpPr>
        <p:spPr>
          <a:xfrm>
            <a:off x="11064240" y="647395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0" rIns="0" tIns="0" bIns="0">
            <a:norm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2676D"/>
                </a:solidFill>
                <a:latin typeface="Aptos"/>
              </a:rPr>
              <a:t xml:space="preserve">10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sthyaMitra">
  <a:themeElements>
    <a:clrScheme name="Swasthya">
      <a:dk1>
        <a:srgbClr val="102A32"/>
      </a:dk1>
      <a:lt1>
        <a:srgbClr val="FFFFFF"/>
      </a:lt1>
      <a:dk2>
        <a:srgbClr val="173A46"/>
      </a:dk2>
      <a:lt2>
        <a:srgbClr val="F5F7F3"/>
      </a:lt2>
      <a:accent1>
        <a:srgbClr val="087E78"/>
      </a:accent1>
      <a:accent2>
        <a:srgbClr val="E8A844"/>
      </a:accent2>
      <a:accent3>
        <a:srgbClr val="BD5149"/>
      </a:accent3>
      <a:accent4>
        <a:srgbClr val="D8E78B"/>
      </a:accent4>
      <a:accent5>
        <a:srgbClr val="52676D"/>
      </a:accent5>
      <a:accent6>
        <a:srgbClr val="D9E2DE"/>
      </a:accent6>
      <a:hlink>
        <a:srgbClr val="087E78"/>
      </a:hlink>
      <a:folHlink>
        <a:srgbClr val="BD5149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impl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